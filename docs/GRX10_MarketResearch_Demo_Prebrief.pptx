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5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48640"/>
            <a:ext cx="310896" cy="310896"/>
          </a:xfrm>
          <a:prstGeom prst="roundRect">
            <a:avLst>
              <a:gd name="adj" fmla="val 6000"/>
            </a:avLst>
          </a:prstGeom>
          <a:solidFill>
            <a:srgbClr val="5B5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31089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493776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GRX10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817DFF"/>
                </a:solidFill>
                <a:latin typeface="Arial"/>
              </a:rPr>
              <a:t>AUTOMATED MARKET RESEARCH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08813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A market sized bottom-up 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every number defensible to its source.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34340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CBD5E1"/>
                </a:solidFill>
                <a:latin typeface="Arial"/>
              </a:rPr>
              <a:t>Turning a market-research engagement into a maintained, source-traceable data asset.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5120640"/>
            <a:ext cx="3108960" cy="27432"/>
          </a:xfrm>
          <a:prstGeom prst="rect">
            <a:avLst/>
          </a:prstGeom>
          <a:solidFill>
            <a:srgbClr val="5B5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5257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Arial"/>
              </a:rPr>
              <a:t>Proof of life:  </a:t>
            </a:r>
            <a:r>
              <a:rPr sz="1400" b="1">
                <a:solidFill>
                  <a:srgbClr val="FFFFFF"/>
                </a:solidFill>
                <a:latin typeface="Arial"/>
              </a:rPr>
              <a:t>Medtech APAC  ·  $97.4B market  ·  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4637A"/>
                </a:solidFill>
                <a:latin typeface="Arial"/>
              </a:rPr>
              <a:t>GRX10 Solutions  ·  Automated Market Research Tool  ·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4637A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310896" cy="310896"/>
          </a:xfrm>
          <a:prstGeom prst="roundRect">
            <a:avLst>
              <a:gd name="adj" fmla="val 6000"/>
            </a:avLst>
          </a:prstGeom>
          <a:solidFill>
            <a:srgbClr val="5B5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31089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402336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9"/>
                </a:solidFill>
                <a:latin typeface="Arial"/>
              </a:rPr>
              <a:t>GRX10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5B54F0"/>
                </a:solidFill>
                <a:latin typeface="Arial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9"/>
                </a:solidFill>
                <a:latin typeface="Arial"/>
              </a:rPr>
              <a:t>Market sizing today is slow, expensive, and un-auditable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514600"/>
            <a:ext cx="361188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514600"/>
            <a:ext cx="3611880" cy="82296"/>
          </a:xfrm>
          <a:prstGeom prst="roundRect">
            <a:avLst>
              <a:gd name="adj" fmla="val 6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8036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9"/>
                </a:solidFill>
                <a:latin typeface="Arial"/>
              </a:rPr>
              <a:t>Weeks, not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20440"/>
            <a:ext cx="3063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A single sizing engagement is 6–9 weeks of analyst work — gathering, reconciling, and formatting by hand.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2514600"/>
            <a:ext cx="361188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70832" y="2514600"/>
            <a:ext cx="3611880" cy="82296"/>
          </a:xfrm>
          <a:prstGeom prst="roundRect">
            <a:avLst>
              <a:gd name="adj" fmla="val 6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288036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9"/>
                </a:solidFill>
                <a:latin typeface="Arial"/>
              </a:rPr>
              <a:t>Stale on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3520440"/>
            <a:ext cx="3063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The output is a static PDF. The moment new trade data or a filing drops, it’s already out of date.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38744" y="2514600"/>
            <a:ext cx="361188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38744" y="2514600"/>
            <a:ext cx="3611880" cy="82296"/>
          </a:xfrm>
          <a:prstGeom prst="roundRect">
            <a:avLst>
              <a:gd name="adj" fmla="val 6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13064" y="288036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9"/>
                </a:solidFill>
                <a:latin typeface="Arial"/>
              </a:rPr>
              <a:t>“Trust me” numbers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13064" y="3520440"/>
            <a:ext cx="3063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Report-industry figures often carry no methodology and no trail — you can’t re-derive them, so you can’t defend them.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6235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0F1729"/>
                </a:solidFill>
                <a:latin typeface="Arial"/>
              </a:rPr>
              <a:t>The buyer — corporate strategy, PE, corp-dev — doesn’t want more volume. They want </a:t>
            </a:r>
            <a:r>
              <a:rPr sz="1500" b="1">
                <a:solidFill>
                  <a:srgbClr val="0F1729"/>
                </a:solidFill>
                <a:latin typeface="Arial"/>
              </a:rPr>
              <a:t>verifiable, decision-grade numbers.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Arial"/>
              </a:rPr>
              <a:t>GRX10 Solutions  ·  Automated Market Research Tool  ·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310896" cy="310896"/>
          </a:xfrm>
          <a:prstGeom prst="roundRect">
            <a:avLst>
              <a:gd name="adj" fmla="val 6000"/>
            </a:avLst>
          </a:prstGeom>
          <a:solidFill>
            <a:srgbClr val="5B5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31089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402336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9"/>
                </a:solidFill>
                <a:latin typeface="Arial"/>
              </a:rPr>
              <a:t>GRX10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5B54F0"/>
                </a:solidFill>
                <a:latin typeface="Arial"/>
              </a:rPr>
              <a:t>THE MARKET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9"/>
                </a:solidFill>
                <a:latin typeface="Arial"/>
              </a:rPr>
              <a:t>No one closes the full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Arial"/>
              </a:rPr>
              <a:t>We scanned ~35 tools. The market splits three ways — and the fusion is open territory.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97480"/>
            <a:ext cx="36118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95351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9"/>
                </a:solidFill>
                <a:latin typeface="Arial"/>
              </a:rPr>
              <a:t>Data &amp; report platforms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4728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5B54F0"/>
                </a:solidFill>
                <a:latin typeface="Arial"/>
              </a:rPr>
              <a:t>AlphaSense, PitchBook, CB Insights, Euromonitor, Gartner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31920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64748B"/>
                </a:solidFill>
                <a:latin typeface="Arial"/>
              </a:rPr>
              <a:t>Sell data or top-down estimates. No auditable bottom-up build.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697480"/>
            <a:ext cx="36118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295351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9"/>
                </a:solidFill>
                <a:latin typeface="Arial"/>
              </a:rPr>
              <a:t>AI research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344728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5B54F0"/>
                </a:solidFill>
                <a:latin typeface="Arial"/>
              </a:rPr>
              <a:t>ChatGPT / Perplexity deep research, Hebbia, Rogo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3931920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64748B"/>
                </a:solidFill>
                <a:latin typeface="Arial"/>
              </a:rPr>
              <a:t>Orchestrate beautifully — but stop at cited prose, not a validated model.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38744" y="2697480"/>
            <a:ext cx="36118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13064" y="295351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9"/>
                </a:solidFill>
                <a:latin typeface="Arial"/>
              </a:rPr>
              <a:t>Sizing calculators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13064" y="344728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5B54F0"/>
                </a:solidFill>
                <a:latin typeface="Arial"/>
              </a:rPr>
              <a:t>Free TAM/SAM/SOM tools, V7 Go, Manus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13064" y="3931920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64748B"/>
                </a:solidFill>
                <a:latin typeface="Arial"/>
              </a:rPr>
              <a:t>Produce numbers from user-supplied assumptions, not primary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349240"/>
            <a:ext cx="11183112" cy="822960"/>
          </a:xfrm>
          <a:prstGeom prst="roundRect">
            <a:avLst>
              <a:gd name="adj" fmla="val 6000"/>
            </a:avLst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440680"/>
            <a:ext cx="10607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817DFF"/>
                </a:solidFill>
                <a:latin typeface="Arial"/>
              </a:rPr>
              <a:t>Our position:  </a:t>
            </a:r>
            <a:r>
              <a:rPr sz="1500" b="0">
                <a:solidFill>
                  <a:srgbClr val="FFFFFF"/>
                </a:solidFill>
                <a:latin typeface="Arial"/>
              </a:rPr>
              <a:t>every figure independently re-derivable from primary data — a differentiator the incumbents structurally can’t offer.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Arial"/>
              </a:rPr>
              <a:t>GRX10 Solutions  ·  Automated Market Research Tool  ·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310896" cy="310896"/>
          </a:xfrm>
          <a:prstGeom prst="roundRect">
            <a:avLst>
              <a:gd name="adj" fmla="val 6000"/>
            </a:avLst>
          </a:prstGeom>
          <a:solidFill>
            <a:srgbClr val="5B5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31089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402336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9"/>
                </a:solidFill>
                <a:latin typeface="Arial"/>
              </a:rPr>
              <a:t>GRX10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5B54F0"/>
                </a:solidFill>
                <a:latin typeface="Arial"/>
              </a:rPr>
              <a:t>WHAT WE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9"/>
                </a:solidFill>
                <a:latin typeface="Arial"/>
              </a:rPr>
              <a:t>A living, source-traceable market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58521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500"/>
              </a:spcAft>
            </a:pPr>
            <a:r>
              <a:rPr sz="1600" b="1">
                <a:solidFill>
                  <a:srgbClr val="5B54F0"/>
                </a:solidFill>
              </a:rPr>
              <a:t>■  </a:t>
            </a:r>
            <a:r>
              <a:rPr sz="1600" b="1">
                <a:solidFill>
                  <a:srgbClr val="0F1729"/>
                </a:solidFill>
              </a:rPr>
              <a:t>Config-driven.</a:t>
            </a:r>
            <a:r>
              <a:rPr sz="1600">
                <a:solidFill>
                  <a:srgbClr val="64748B"/>
                </a:solidFill>
              </a:rPr>
              <a:t>  Define what to size (taxonomy), where (geographies), and the sources feed in — no code.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500"/>
              </a:spcAft>
            </a:pPr>
            <a:r>
              <a:rPr sz="1600" b="1">
                <a:solidFill>
                  <a:srgbClr val="5B54F0"/>
                </a:solidFill>
              </a:rPr>
              <a:t>■  </a:t>
            </a:r>
            <a:r>
              <a:rPr sz="1600" b="1">
                <a:solidFill>
                  <a:srgbClr val="0F1729"/>
                </a:solidFill>
              </a:rPr>
              <a:t>Multi-method triangulation.</a:t>
            </a:r>
            <a:r>
              <a:rPr sz="1600">
                <a:solidFill>
                  <a:srgbClr val="64748B"/>
                </a:solidFill>
              </a:rPr>
              <a:t>  Every cell is sized by several independent methods before it enters the model.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500"/>
              </a:spcAft>
            </a:pPr>
            <a:r>
              <a:rPr sz="1600" b="1">
                <a:solidFill>
                  <a:srgbClr val="5B54F0"/>
                </a:solidFill>
              </a:rPr>
              <a:t>■  </a:t>
            </a:r>
            <a:r>
              <a:rPr sz="1600" b="1">
                <a:solidFill>
                  <a:srgbClr val="0F1729"/>
                </a:solidFill>
              </a:rPr>
              <a:t>Confidence, computed.</a:t>
            </a:r>
            <a:r>
              <a:rPr sz="1600">
                <a:solidFill>
                  <a:srgbClr val="64748B"/>
                </a:solidFill>
              </a:rPr>
              <a:t>  HIGH / MEDIUM / LOW is earned from source agreement — never asserted by hand.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500"/>
              </a:spcAft>
            </a:pPr>
            <a:r>
              <a:rPr sz="1600" b="1">
                <a:solidFill>
                  <a:srgbClr val="5B54F0"/>
                </a:solidFill>
              </a:rPr>
              <a:t>■  </a:t>
            </a:r>
            <a:r>
              <a:rPr sz="1600" b="1">
                <a:solidFill>
                  <a:srgbClr val="0F1729"/>
                </a:solidFill>
              </a:rPr>
              <a:t>Drillable to the source URL.</a:t>
            </a:r>
            <a:r>
              <a:rPr sz="1600">
                <a:solidFill>
                  <a:srgbClr val="64748B"/>
                </a:solidFill>
              </a:rPr>
              <a:t>  Two clicks from any number to the government record or filing behind it.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500"/>
              </a:spcAft>
            </a:pPr>
            <a:r>
              <a:rPr sz="1600" b="1">
                <a:solidFill>
                  <a:srgbClr val="5B54F0"/>
                </a:solidFill>
              </a:rPr>
              <a:t>■  </a:t>
            </a:r>
            <a:r>
              <a:rPr sz="1600" b="1">
                <a:solidFill>
                  <a:srgbClr val="0F1729"/>
                </a:solidFill>
              </a:rPr>
              <a:t>Maintained, not one-time.</a:t>
            </a:r>
            <a:r>
              <a:rPr sz="1600">
                <a:solidFill>
                  <a:srgbClr val="64748B"/>
                </a:solidFill>
              </a:rPr>
              <a:t>  Re-ingests on a schedule; the model stays current and confidence improves.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2468880"/>
            <a:ext cx="4937760" cy="3566160"/>
          </a:xfrm>
          <a:prstGeom prst="roundRect">
            <a:avLst>
              <a:gd name="adj" fmla="val 6000"/>
            </a:avLst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283464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817DFF"/>
                </a:solidFill>
                <a:latin typeface="Arial"/>
              </a:rPr>
              <a:t>THE OUTCOME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338328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Weeks →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76732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5BFD4"/>
                </a:solidFill>
                <a:latin typeface="Arial"/>
              </a:rPr>
              <a:t>consultant time compressed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4279392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Every number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5BFD4"/>
                </a:solidFill>
                <a:latin typeface="Arial"/>
              </a:rPr>
              <a:t>traceable to a live source URL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5175504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Bottom-up + triangulated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555955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5BFD4"/>
                </a:solidFill>
                <a:latin typeface="Arial"/>
              </a:rPr>
              <a:t>with the spread shown, not hidden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Arial"/>
              </a:rPr>
              <a:t>GRX10 Solutions  ·  Automated Market Research Tool  · 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310896" cy="310896"/>
          </a:xfrm>
          <a:prstGeom prst="roundRect">
            <a:avLst>
              <a:gd name="adj" fmla="val 6000"/>
            </a:avLst>
          </a:prstGeom>
          <a:solidFill>
            <a:srgbClr val="5B5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31089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402336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9"/>
                </a:solidFill>
                <a:latin typeface="Arial"/>
              </a:rPr>
              <a:t>GRX10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5B54F0"/>
                </a:solidFill>
                <a:latin typeface="Arial"/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9"/>
                </a:solidFill>
                <a:latin typeface="Arial"/>
              </a:rPr>
              <a:t>Config in → sources ingested → model 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450" y="2651760"/>
            <a:ext cx="2084831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9450" y="2651760"/>
            <a:ext cx="2084831" cy="82296"/>
          </a:xfrm>
          <a:prstGeom prst="roundRect">
            <a:avLst>
              <a:gd name="adj" fmla="val 6000"/>
            </a:avLst>
          </a:prstGeom>
          <a:solidFill>
            <a:srgbClr val="5B5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0618" y="2907792"/>
            <a:ext cx="16824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F1729"/>
                </a:solidFill>
                <a:latin typeface="Arial"/>
              </a:rPr>
              <a:t>1  Define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618" y="3401568"/>
            <a:ext cx="16824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Arial"/>
              </a:rPr>
              <a:t>Taxonomy, geographies, sources, methods</a:t>
            </a:r>
          </a:p>
        </p:txBody>
      </p:sp>
      <p:sp>
        <p:nvSpPr>
          <p:cNvPr id="12" name="Chevron 11"/>
          <p:cNvSpPr/>
          <p:nvPr/>
        </p:nvSpPr>
        <p:spPr>
          <a:xfrm>
            <a:off x="2698853" y="3342132"/>
            <a:ext cx="137160" cy="219456"/>
          </a:xfrm>
          <a:prstGeom prst="chevron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31441" y="2651760"/>
            <a:ext cx="2084831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31441" y="2651760"/>
            <a:ext cx="2084831" cy="82296"/>
          </a:xfrm>
          <a:prstGeom prst="roundRect">
            <a:avLst>
              <a:gd name="adj" fmla="val 6000"/>
            </a:avLst>
          </a:prstGeom>
          <a:solidFill>
            <a:srgbClr val="5B5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2609" y="2907792"/>
            <a:ext cx="16824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F1729"/>
                </a:solidFill>
                <a:latin typeface="Arial"/>
              </a:rPr>
              <a:t>2  Ingest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2609" y="3401568"/>
            <a:ext cx="16824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Arial"/>
              </a:rPr>
              <a:t>Weekly pulls; verbatim payloads stored</a:t>
            </a:r>
          </a:p>
        </p:txBody>
      </p:sp>
      <p:sp>
        <p:nvSpPr>
          <p:cNvPr id="17" name="Chevron 16"/>
          <p:cNvSpPr/>
          <p:nvPr/>
        </p:nvSpPr>
        <p:spPr>
          <a:xfrm>
            <a:off x="4920844" y="3342132"/>
            <a:ext cx="137160" cy="219456"/>
          </a:xfrm>
          <a:prstGeom prst="chevron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53432" y="2651760"/>
            <a:ext cx="2084831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53432" y="2651760"/>
            <a:ext cx="2084831" cy="82296"/>
          </a:xfrm>
          <a:prstGeom prst="roundRect">
            <a:avLst>
              <a:gd name="adj" fmla="val 6000"/>
            </a:avLst>
          </a:prstGeom>
          <a:solidFill>
            <a:srgbClr val="5B5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4600" y="2907792"/>
            <a:ext cx="16824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F1729"/>
                </a:solidFill>
                <a:latin typeface="Arial"/>
              </a:rPr>
              <a:t>3  Triangulate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4600" y="3401568"/>
            <a:ext cx="16824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Arial"/>
              </a:rPr>
              <a:t>Methods size each cell independently</a:t>
            </a:r>
          </a:p>
        </p:txBody>
      </p:sp>
      <p:sp>
        <p:nvSpPr>
          <p:cNvPr id="22" name="Chevron 21"/>
          <p:cNvSpPr/>
          <p:nvPr/>
        </p:nvSpPr>
        <p:spPr>
          <a:xfrm>
            <a:off x="7142835" y="3342132"/>
            <a:ext cx="137160" cy="219456"/>
          </a:xfrm>
          <a:prstGeom prst="chevron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75423" y="2651760"/>
            <a:ext cx="2084831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275423" y="2651760"/>
            <a:ext cx="2084831" cy="82296"/>
          </a:xfrm>
          <a:prstGeom prst="roundRect">
            <a:avLst>
              <a:gd name="adj" fmla="val 6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76591" y="2907792"/>
            <a:ext cx="16824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F1729"/>
                </a:solidFill>
                <a:latin typeface="Arial"/>
              </a:rPr>
              <a:t>4  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6591" y="3401568"/>
            <a:ext cx="16824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Arial"/>
              </a:rPr>
              <a:t>Confidence from source agreement</a:t>
            </a:r>
          </a:p>
        </p:txBody>
      </p:sp>
      <p:sp>
        <p:nvSpPr>
          <p:cNvPr id="27" name="Chevron 26"/>
          <p:cNvSpPr/>
          <p:nvPr/>
        </p:nvSpPr>
        <p:spPr>
          <a:xfrm>
            <a:off x="9364826" y="3342132"/>
            <a:ext cx="137160" cy="219456"/>
          </a:xfrm>
          <a:prstGeom prst="chevron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97414" y="2651760"/>
            <a:ext cx="2084831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497414" y="2651760"/>
            <a:ext cx="2084831" cy="82296"/>
          </a:xfrm>
          <a:prstGeom prst="roundRect">
            <a:avLst>
              <a:gd name="adj" fmla="val 6000"/>
            </a:avLst>
          </a:prstGeom>
          <a:solidFill>
            <a:srgbClr val="5B5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8582" y="2907792"/>
            <a:ext cx="16824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F1729"/>
                </a:solidFill>
                <a:latin typeface="Arial"/>
              </a:rPr>
              <a:t>5  Surface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8582" y="3401568"/>
            <a:ext cx="16824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Arial"/>
              </a:rPr>
              <a:t>Browser app, PDF &amp; Excel exports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754880"/>
            <a:ext cx="11183112" cy="1234440"/>
          </a:xfrm>
          <a:prstGeom prst="roundRect">
            <a:avLst>
              <a:gd name="adj" fmla="val 6000"/>
            </a:avLst>
          </a:prstGeom>
          <a:solidFill>
            <a:srgbClr val="EE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93776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5B54F0"/>
                </a:solidFill>
                <a:latin typeface="Arial"/>
              </a:rPr>
              <a:t>NON-NEGOTIABLE PROPERTIES — LIVE IN THE ARCHITECTURE, NOT THE CONFIG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285232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9"/>
                </a:solidFill>
                <a:latin typeface="Arial"/>
              </a:rPr>
              <a:t>No fact row without a source  ·  ≥2 independent methods per cell  ·  confidence computed programmatically  ·  every number two clicks from its raw payload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Arial"/>
              </a:rPr>
              <a:t>GRX10 Solutions  ·  Automated Market Research Tool  ·  Confidential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5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310896" cy="310896"/>
          </a:xfrm>
          <a:prstGeom prst="roundRect">
            <a:avLst>
              <a:gd name="adj" fmla="val 6000"/>
            </a:avLst>
          </a:prstGeom>
          <a:solidFill>
            <a:srgbClr val="5B5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31089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402336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GRX10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817DFF"/>
                </a:solidFill>
                <a:latin typeface="Arial"/>
              </a:rPr>
              <a:t>WHY IT'S DEFENSIBLE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Four things the market can’t match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23160"/>
            <a:ext cx="5349240" cy="16002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679192"/>
            <a:ext cx="54864" cy="1088136"/>
          </a:xfrm>
          <a:prstGeom prst="rect">
            <a:avLst/>
          </a:prstGeom>
          <a:solidFill>
            <a:srgbClr val="5B5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60904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Re-derivable to primary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36392"/>
            <a:ext cx="4800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5BFD4"/>
                </a:solidFill>
                <a:latin typeface="Arial"/>
              </a:rPr>
              <a:t>Not “we cite sources” — every figure rebuilds from the trade record, filing, or registry beneath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423160"/>
            <a:ext cx="5349240" cy="16002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2679192"/>
            <a:ext cx="54864" cy="1088136"/>
          </a:xfrm>
          <a:prstGeom prst="rect">
            <a:avLst/>
          </a:prstGeom>
          <a:solidFill>
            <a:srgbClr val="5B5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660904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Bottom-up + it shows its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136392"/>
            <a:ext cx="4800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5BFD4"/>
                </a:solidFill>
                <a:latin typeface="Arial"/>
              </a:rPr>
              <a:t>Top-down report, bottom-up build, and cross-checks that visibly converge — or flag where they don’t.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43400"/>
            <a:ext cx="5349240" cy="16002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599432"/>
            <a:ext cx="54864" cy="1088136"/>
          </a:xfrm>
          <a:prstGeom prst="rect">
            <a:avLst/>
          </a:prstGeom>
          <a:solidFill>
            <a:srgbClr val="5B5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581144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Confidence you can inspect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056632"/>
            <a:ext cx="4800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5BFD4"/>
                </a:solidFill>
                <a:latin typeface="Arial"/>
              </a:rPr>
              <a:t>A cell is HIGH only when independent methods agree within tolerance. The spread is on screen.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4343400"/>
            <a:ext cx="5349240" cy="16002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46520" y="4599432"/>
            <a:ext cx="54864" cy="1088136"/>
          </a:xfrm>
          <a:prstGeom prst="rect">
            <a:avLst/>
          </a:prstGeom>
          <a:solidFill>
            <a:srgbClr val="5B5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4581144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A maintained asset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056632"/>
            <a:ext cx="4800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5BFD4"/>
                </a:solidFill>
                <a:latin typeface="Arial"/>
              </a:rPr>
              <a:t>Re-runnable and versioned. It refreshes as inputs change — not a PDF that’s stale on arrival.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4637A"/>
                </a:solidFill>
                <a:latin typeface="Arial"/>
              </a:rPr>
              <a:t>GRX10 Solutions  ·  Automated Market Research Tool  · 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4637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310896" cy="310896"/>
          </a:xfrm>
          <a:prstGeom prst="roundRect">
            <a:avLst>
              <a:gd name="adj" fmla="val 6000"/>
            </a:avLst>
          </a:prstGeom>
          <a:solidFill>
            <a:srgbClr val="5B5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31089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402336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9"/>
                </a:solidFill>
                <a:latin typeface="Arial"/>
              </a:rPr>
              <a:t>GRX10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5B54F0"/>
                </a:solidFill>
                <a:latin typeface="Arial"/>
              </a:rPr>
              <a:t>THE PROOF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9"/>
                </a:solidFill>
                <a:latin typeface="Arial"/>
              </a:rPr>
              <a:t>Medtech APAC — a real engagement, fully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Arial"/>
              </a:rPr>
              <a:t>The demo runs on the actual Jabil MedTech APAC data — real numbers, real sources, live in the tool.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97480"/>
            <a:ext cx="26974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953512"/>
            <a:ext cx="21854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5B54F0"/>
                </a:solidFill>
                <a:latin typeface="Consolas"/>
              </a:rPr>
              <a:t>$97.4B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630168"/>
            <a:ext cx="21854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Arial"/>
              </a:rPr>
              <a:t>2026 total addressable market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28416" y="2697480"/>
            <a:ext cx="26974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2953512"/>
            <a:ext cx="21854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5B54F0"/>
                </a:solidFill>
                <a:latin typeface="Consolas"/>
              </a:rPr>
              <a:t>198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3630168"/>
            <a:ext cx="21854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Arial"/>
              </a:rPr>
              <a:t>market cells (subcategory × geography × year)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3912" y="2697480"/>
            <a:ext cx="26974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2953512"/>
            <a:ext cx="21854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5B54F0"/>
                </a:solidFill>
                <a:latin typeface="Consolas"/>
              </a:rPr>
              <a:t>7 / 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3630168"/>
            <a:ext cx="21854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Arial"/>
              </a:rPr>
              <a:t>families / subcategories sized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9408" y="2697480"/>
            <a:ext cx="26974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2953512"/>
            <a:ext cx="21854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59669"/>
                </a:solidFill>
                <a:latin typeface="Consolas"/>
              </a:rPr>
              <a:t>48 / 134 / 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630168"/>
            <a:ext cx="21854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Arial"/>
              </a:rPr>
              <a:t>HIGH / MEDIUM / LOW confidence cells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526280"/>
            <a:ext cx="11183112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6817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5B54F0"/>
                </a:solidFill>
                <a:latin typeface="Arial"/>
              </a:rPr>
              <a:t>REAL SOURCES BEHIND THE NUMBERS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0292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9"/>
                </a:solidFill>
                <a:latin typeface="Arial"/>
              </a:rPr>
              <a:t>UN Comtrade (HS 9018–9022 medical devices)  ·  China NMPA device registry  ·  Japan EDINET XBRL segment revenue (Murata, TDK)  ·  WHO / World Bank health expenditure  ·  MicroPort &amp; Mindray filings  ·  IMARC / Mordor industry reports  ·  China VBP procurement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Arial"/>
              </a:rPr>
              <a:t>GRX10 Solutions  ·  Automated Market Research Tool  ·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310896" cy="310896"/>
          </a:xfrm>
          <a:prstGeom prst="roundRect">
            <a:avLst>
              <a:gd name="adj" fmla="val 6000"/>
            </a:avLst>
          </a:prstGeom>
          <a:solidFill>
            <a:srgbClr val="5B5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31089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402336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9"/>
                </a:solidFill>
                <a:latin typeface="Arial"/>
              </a:rPr>
              <a:t>GRX10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5B54F0"/>
                </a:solidFill>
                <a:latin typeface="Arial"/>
              </a:rPr>
              <a:t>WHAT YOU'LL SEE — ~10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9"/>
                </a:solidFill>
                <a:latin typeface="Arial"/>
              </a:rPr>
              <a:t>The live walkthrough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77440"/>
            <a:ext cx="11183112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377440"/>
            <a:ext cx="822960" cy="749808"/>
          </a:xfrm>
          <a:prstGeom prst="roundRect">
            <a:avLst>
              <a:gd name="adj" fmla="val 6000"/>
            </a:avLst>
          </a:prstGeom>
          <a:solidFill>
            <a:srgbClr val="5B5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40"/>
            <a:ext cx="822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77440"/>
            <a:ext cx="3108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F1729"/>
                </a:solidFill>
                <a:latin typeface="Arial"/>
              </a:rPr>
              <a:t>The finished asset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377440"/>
            <a:ext cx="67208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64748B"/>
                </a:solidFill>
                <a:latin typeface="Arial"/>
              </a:rPr>
              <a:t>Open on the populated dashboard — $97.4B, confidence split, market by family &amp; geography.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00400"/>
            <a:ext cx="11183112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3200400"/>
            <a:ext cx="822960" cy="749808"/>
          </a:xfrm>
          <a:prstGeom prst="roundRect">
            <a:avLst>
              <a:gd name="adj" fmla="val 6000"/>
            </a:avLst>
          </a:prstGeom>
          <a:solidFill>
            <a:srgbClr val="5B5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200400"/>
            <a:ext cx="822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200400"/>
            <a:ext cx="3108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F1729"/>
                </a:solidFill>
                <a:latin typeface="Arial"/>
              </a:rPr>
              <a:t>The wow: drill to 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200400"/>
            <a:ext cx="67208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64748B"/>
                </a:solidFill>
                <a:latin typeface="Arial"/>
              </a:rPr>
              <a:t>Any TAM → the methods that triangulated it → the named source → its live URL. Two clicks.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023360"/>
            <a:ext cx="11183112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4023360"/>
            <a:ext cx="822960" cy="749808"/>
          </a:xfrm>
          <a:prstGeom prst="roundRect">
            <a:avLst>
              <a:gd name="adj" fmla="val 6000"/>
            </a:avLst>
          </a:prstGeom>
          <a:solidFill>
            <a:srgbClr val="5B5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023360"/>
            <a:ext cx="822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023360"/>
            <a:ext cx="3108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F1729"/>
                </a:solidFill>
                <a:latin typeface="Arial"/>
              </a:rPr>
              <a:t>Sources &amp; why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023360"/>
            <a:ext cx="67208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64748B"/>
                </a:solidFill>
                <a:latin typeface="Arial"/>
              </a:rPr>
              <a:t>Every source by evidence class, what it’s used for, and why it qualifies its confidence tier.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846320"/>
            <a:ext cx="11183112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4846320"/>
            <a:ext cx="822960" cy="749808"/>
          </a:xfrm>
          <a:prstGeom prst="roundRect">
            <a:avLst>
              <a:gd name="adj" fmla="val 6000"/>
            </a:avLst>
          </a:prstGeom>
          <a:solidFill>
            <a:srgbClr val="5B5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846320"/>
            <a:ext cx="822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846320"/>
            <a:ext cx="3108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F1729"/>
                </a:solidFill>
                <a:latin typeface="Arial"/>
              </a:rPr>
              <a:t>The hook: brief in, model 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4846320"/>
            <a:ext cx="67208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64748B"/>
                </a:solidFill>
                <a:latin typeface="Arial"/>
              </a:rPr>
              <a:t>Type a market brief in plain English → the tool interprets it into a confirmed, sourced plan.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669280"/>
            <a:ext cx="11183112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920" y="5669280"/>
            <a:ext cx="822960" cy="749808"/>
          </a:xfrm>
          <a:prstGeom prst="roundRect">
            <a:avLst>
              <a:gd name="adj" fmla="val 6000"/>
            </a:avLst>
          </a:prstGeom>
          <a:solidFill>
            <a:srgbClr val="5B5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669280"/>
            <a:ext cx="822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onsola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669280"/>
            <a:ext cx="3108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F1729"/>
                </a:solidFill>
                <a:latin typeface="Arial"/>
              </a:rPr>
              <a:t>A maintained asset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5669280"/>
            <a:ext cx="67208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64748B"/>
                </a:solidFill>
                <a:latin typeface="Arial"/>
              </a:rPr>
              <a:t>It refreshes from live sources on a schedule — not a one-time deliverable.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Arial"/>
              </a:rPr>
              <a:t>GRX10 Solutions  ·  Automated Market Research Tool  ·  Confidential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5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48640"/>
            <a:ext cx="310896" cy="310896"/>
          </a:xfrm>
          <a:prstGeom prst="roundRect">
            <a:avLst>
              <a:gd name="adj" fmla="val 6000"/>
            </a:avLst>
          </a:prstGeom>
          <a:solidFill>
            <a:srgbClr val="5B5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31089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493776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GRX10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817DFF"/>
                </a:solidFill>
                <a:latin typeface="Arial"/>
              </a:rPr>
              <a:t>AFTER THE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Which of your markets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should we point it at first?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4348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BD5E1"/>
                </a:solidFill>
                <a:latin typeface="Arial"/>
              </a:rPr>
              <a:t>A market sized in days, every number defensible to its source, and a model that stays current.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5212080"/>
            <a:ext cx="3108960" cy="27432"/>
          </a:xfrm>
          <a:prstGeom prst="rect">
            <a:avLst/>
          </a:prstGeom>
          <a:solidFill>
            <a:srgbClr val="5B5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5394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GRX10 Solutions Private Limited   ·   prem@grx10.com   ·   sriram@grx10.com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4637A"/>
                </a:solidFill>
                <a:latin typeface="Arial"/>
              </a:rPr>
              <a:t>GRX10 Solutions  ·  Automated Market Research Tool  ·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4637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