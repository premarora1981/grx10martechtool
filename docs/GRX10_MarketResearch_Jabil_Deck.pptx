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2651760" cy="5143500"/>
          </a:xfrm>
          <a:prstGeom prst="rect">
            <a:avLst/>
          </a:prstGeom>
          <a:solidFill>
            <a:srgbClr val="2D1040">
              <a:alpha val="85000"/>
            </a:srgbClr>
          </a:solidFill>
          <a:ln w="12700">
            <a:solidFill>
              <a:srgbClr val="2D1040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0"/>
            <a:ext cx="1920240" cy="5143500"/>
          </a:xfrm>
          <a:prstGeom prst="rect">
            <a:avLst/>
          </a:prstGeom>
          <a:solidFill>
            <a:srgbClr val="1A0828">
              <a:alpha val="90000"/>
            </a:srgbClr>
          </a:solidFill>
          <a:ln w="12700">
            <a:solidFill>
              <a:srgbClr val="1A0828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8040" y="0"/>
            <a:ext cx="109728" cy="5143500"/>
          </a:xfrm>
          <a:prstGeom prst="rect">
            <a:avLst/>
          </a:prstGeom>
          <a:solidFill>
            <a:srgbClr val="5C2D91">
              <a:alpha val="70000"/>
            </a:srgbClr>
          </a:solidFill>
          <a:ln w="12700">
            <a:solidFill>
              <a:srgbClr val="5C2D91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2194560" cy="619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MEDTECH APAC MARKET,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2578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AND DRILLABLE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3127248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model behind your engagement — rebuilt as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living, source-traceable data asset.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8221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$97.4B market  ·  198 cells  ·  </a:t>
            </a:r>
            <a:pPr indent="0" marL="0">
              <a:buNone/>
            </a:pPr>
            <a:r>
              <a:rPr lang="en-US" sz="13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today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206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Jabil · July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"/>
            <a:ext cx="475488" cy="506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 to </a:t>
            </a:r>
            <a:pPr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asset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productized your Medtech APAC engagement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APAC engagement produced a defensible market report. Traditional research stops there — and that’s the problem we set out to fix.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728216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728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on delivery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" y="2002536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static report starts aging the day it lands. New trade data, a fresh filing, an NMPA registration — none of it flows back into the numbers.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52344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" y="2715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“Trust me” numbers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8096" y="3026664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Industry-report figures rarely show their work. When a number is challenged in a deal or a board room, there’s no way to walk it back to a primary source.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776472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776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8096" y="3739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 re-cut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8096" y="4050792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question — a different geography, an excluded segment, an updated year range — restarts an analyst cycle instead of a query.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"/>
            <a:ext cx="475488" cy="506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</a:t>
            </a:r>
            <a:pPr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source-traceable market model — loaded with your real APAC data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07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8096" y="11704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Bottom-up, cell by cell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148132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sized as subcategory × geography × year cells — each one estimated by multiple independent methods that must converge before it enters the model.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139696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68096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drills to its source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" y="241401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clicks from any TAM to the government trade record, regulatory registry, or company filing behind it — with the verbatim raw payload stored.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072384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072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68096" y="3035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earned, not asserted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8096" y="334670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MEDIUM / LOW is computed from how many independent methods agree and how tightly — no analyst can hand-set it.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4005072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68096" y="396849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in a sentence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8096" y="427939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brief in plain English — “SE Asia cardiovascular, 2024–2029, exclude China” — and the tool interprets it into a plan you confirm before it runs.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"/>
            <a:ext cx="475488" cy="506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Medtech APAC — </a:t>
            </a:r>
            <a:pPr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engagement data, fully loaded in the tool — what the demo runs 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201168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2984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$97.4B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75488" y="190195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total addressable market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23744" y="1143000"/>
            <a:ext cx="201168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23744" y="12984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633472" y="190195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cells (subcategory × geography × year)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81728" y="1143000"/>
            <a:ext cx="201168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1728" y="12984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 / 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791456" y="190195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subcategories across China, Singapore, Malaysia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39712" y="1143000"/>
            <a:ext cx="201168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12984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476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49440" y="190195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triangulation estimates behind the cells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8346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EARNED FROM SOURCE AGREEMENT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31272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HIGH</a:t>
            </a:r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MEDIUM</a:t>
            </a:r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LOW</a:t>
            </a:r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every cell carries a band and a rationale, not just a point estimate.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SOURCES BEHIND THE NUMBERS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3904488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Comtrade trade flows · China NMPA registrations · Japan EDINET XBRL filings · SEC EDGAR · OEM filings (MicroPort, Lepu…) · industry reports — each tagged by evidence class (A primary / B industry / C support).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"/>
            <a:ext cx="475488" cy="506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</a:t>
            </a:r>
            <a:pPr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in → sources ingested → model out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50392" y="123444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2212848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Taxonomy, geographies, sources, methods — configuration, not code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874520" y="1325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06040" y="123444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06040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075688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075688" y="2212848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pulls; verbatim payloads stored for audit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30168" y="1325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61688" y="123444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61688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31336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831336" y="2212848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methods size each cell separately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385816" y="1325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17336" y="123444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17336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586984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586984" y="2212848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computed from source agreement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141464" y="1325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872984" y="123444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72984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42632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342632" y="2212848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app, PDF reports, Excel exports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12700">
            <a:solidFill>
              <a:srgbClr val="2D2D5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4290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NON-NEGOTIABLES — BUILT INTO THE ARCHITECTURE, NOT THE PROCESS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37490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estimate without a source</a:t>
            </a:r>
            <a:pPr indent="0" marL="0">
              <a:buNone/>
            </a:pPr>
            <a:r>
              <a:rPr lang="en-US" sz="12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every fact row carries its source, method and band  —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independent methods</a:t>
            </a:r>
            <a:pPr indent="0" marL="0">
              <a:buNone/>
            </a:pPr>
            <a:r>
              <a:rPr lang="en-US" sz="12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a cell enters the model  —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write-time overrides</a:t>
            </a:r>
            <a:pPr indent="0" marL="0">
              <a:buNone/>
            </a:pPr>
            <a:r>
              <a:rPr lang="en-US" sz="12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confidence  —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two-click drill</a:t>
            </a:r>
            <a:pPr indent="0" marL="0">
              <a:buNone/>
            </a:pPr>
            <a:r>
              <a:rPr lang="en-US" sz="12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any number to the raw record.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"/>
            <a:ext cx="475488" cy="506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every number is </a:t>
            </a:r>
            <a:pPr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9728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51560" y="1115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“we cite sources”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" y="1399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Re-derivable to primary data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" y="1664208"/>
            <a:ext cx="0" cy="91440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783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rebuilds from the trade record,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51560" y="21122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filing, or registry beneath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5760" y="292608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944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its work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3227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you can see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0936" y="3493008"/>
            <a:ext cx="0" cy="91440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3611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build, top-down checks — they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51560" y="39410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visibly converge, or the gap is flagged.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109728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1097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49240" y="1115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hand-tuning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49240" y="1399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you can inspect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928616" y="1664208"/>
            <a:ext cx="0" cy="91440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49240" y="1783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only when independent methods agree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349240" y="21122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band. Computed, never asserted.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663440" y="292608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0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49240" y="2944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travels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49240" y="3227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exports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928616" y="3493008"/>
            <a:ext cx="0" cy="91440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49240" y="3611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 with numbered, clickable source pages;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349240" y="39410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with hyperlinked sources per figure.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"/>
            <a:ext cx="475488" cy="506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you’ll see — </a:t>
            </a:r>
            <a:pPr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minutes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walkthrough, on your real data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15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1133856"/>
            <a:ext cx="7543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asset  —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populated dashboard — $97.4B, confidence split, market by family and by geography.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8229600" cy="0"/>
          </a:xfrm>
          <a:prstGeom prst="line">
            <a:avLst/>
          </a:prstGeom>
          <a:noFill/>
          <a:ln w="12700">
            <a:solidFill>
              <a:srgbClr val="2D2D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865376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865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1883664"/>
            <a:ext cx="7543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wow: drill to source  —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Coronary Stents · China · 2026 → the four methods that triangulated it → the named source → its live URL. Two clicks.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505456"/>
            <a:ext cx="8229600" cy="0"/>
          </a:xfrm>
          <a:prstGeom prst="line">
            <a:avLst/>
          </a:prstGeom>
          <a:noFill/>
          <a:ln w="12700">
            <a:solidFill>
              <a:srgbClr val="2D2D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615184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615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3000" y="2633472"/>
            <a:ext cx="7543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why they’re chosen  —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source by evidence class, what it’s used for, and which methods it feeds.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255264"/>
            <a:ext cx="8229600" cy="0"/>
          </a:xfrm>
          <a:prstGeom prst="line">
            <a:avLst/>
          </a:prstGeom>
          <a:noFill/>
          <a:ln w="12700">
            <a:solidFill>
              <a:srgbClr val="2D2D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364992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43000" y="3383280"/>
            <a:ext cx="7543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in, model out  —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plain-English brief interpreted into an editable, sourced plan you confirm before it runs.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4005072"/>
            <a:ext cx="8229600" cy="0"/>
          </a:xfrm>
          <a:prstGeom prst="line">
            <a:avLst/>
          </a:prstGeom>
          <a:noFill/>
          <a:ln w="12700">
            <a:solidFill>
              <a:srgbClr val="2D2D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4114800"/>
            <a:ext cx="530352" cy="53035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43000" y="4133088"/>
            <a:ext cx="7543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maintained asset  —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connectors re-pull on a schedule — the model updates as new data drops.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"/>
            <a:ext cx="475488" cy="506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maintained asset, not a </a:t>
            </a:r>
            <a:pPr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Jabil after today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07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8096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stays current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148132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re-pull from live sources on a schedule — new trade data or a new filing drops, the model updates and confidence improves.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139696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68096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questions are queries, not projects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" y="241401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Re-cut by geography, family, or year in seconds. New markets start from a one-sentence brief, not a new engagement.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072384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072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68096" y="30358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self-serves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8096" y="334670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access with role-based SSO; any slice exports to PDF or Excel with the provenance attached.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4005072"/>
            <a:ext cx="182880" cy="182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68096" y="39684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base compounds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8096" y="427939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researched catalog of 60+ connectors — trade, regulatory, filings, procurement, patents, signals — ready to extend to any market you point it at.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2651760" cy="5143500"/>
          </a:xfrm>
          <a:prstGeom prst="rect">
            <a:avLst/>
          </a:prstGeom>
          <a:solidFill>
            <a:srgbClr val="2D1040">
              <a:alpha val="85000"/>
            </a:srgbClr>
          </a:solidFill>
          <a:ln w="12700">
            <a:solidFill>
              <a:srgbClr val="2D1040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0"/>
            <a:ext cx="1920240" cy="5143500"/>
          </a:xfrm>
          <a:prstGeom prst="rect">
            <a:avLst/>
          </a:prstGeom>
          <a:solidFill>
            <a:srgbClr val="1A0828">
              <a:alpha val="90000"/>
            </a:srgbClr>
          </a:solidFill>
          <a:ln w="12700">
            <a:solidFill>
              <a:srgbClr val="1A0828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8040" y="0"/>
            <a:ext cx="109728" cy="5143500"/>
          </a:xfrm>
          <a:prstGeom prst="rect">
            <a:avLst/>
          </a:prstGeom>
          <a:solidFill>
            <a:srgbClr val="5C2D91">
              <a:alpha val="70000"/>
            </a:srgbClr>
          </a:solidFill>
          <a:ln w="12700">
            <a:solidFill>
              <a:srgbClr val="5C2D91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18872"/>
            <a:ext cx="475488" cy="506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DEMO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627632"/>
            <a:ext cx="1097280" cy="0"/>
          </a:xfrm>
          <a:prstGeom prst="line">
            <a:avLst/>
          </a:prstGeom>
          <a:noFill/>
          <a:ln w="25400">
            <a:solidFill>
              <a:srgbClr val="E91E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7830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your markets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point it at first?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" y="30175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sized in days, every number defensible to 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and a model that stays current.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· industrial · healthcare · energy — the engine 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market-agnostic; only the configuration changes.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2651760" cy="5143500"/>
          </a:xfrm>
          <a:prstGeom prst="rect">
            <a:avLst/>
          </a:prstGeom>
          <a:solidFill>
            <a:srgbClr val="2D1040">
              <a:alpha val="85000"/>
            </a:srgbClr>
          </a:solidFill>
          <a:ln w="12700">
            <a:solidFill>
              <a:srgbClr val="2D1040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0"/>
            <a:ext cx="1920240" cy="5143500"/>
          </a:xfrm>
          <a:prstGeom prst="rect">
            <a:avLst/>
          </a:prstGeom>
          <a:solidFill>
            <a:srgbClr val="1A0828">
              <a:alpha val="90000"/>
            </a:srgbClr>
          </a:solidFill>
          <a:ln w="12700">
            <a:solidFill>
              <a:srgbClr val="1A0828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8040" y="0"/>
            <a:ext cx="109728" cy="5143500"/>
          </a:xfrm>
          <a:prstGeom prst="rect">
            <a:avLst/>
          </a:prstGeom>
          <a:solidFill>
            <a:srgbClr val="5C2D91">
              <a:alpha val="70000"/>
            </a:srgbClr>
          </a:solidFill>
          <a:ln w="12700">
            <a:solidFill>
              <a:srgbClr val="5C2D91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2011680" cy="567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02920" y="2834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</a:t>
            </a:r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Discussion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3493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prem@grx10.com · sriram@grx10.com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813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www.grx10.com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GRX10 Solutions · Prepared for Jabil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2026-07-02T11:26:31Z</dcterms:created>
  <dcterms:modified xsi:type="dcterms:W3CDTF">2026-07-02T11:26:31Z</dcterms:modified>
</cp:coreProperties>
</file>